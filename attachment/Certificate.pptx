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DM Serif Display" pitchFamily="2" charset="0"/>
      <p:regular r:id="rId3"/>
    </p:embeddedFont>
    <p:embeddedFont>
      <p:font typeface="Lato" panose="020F0502020204030203" pitchFamily="34" charset="0"/>
      <p:regular r:id="rId4"/>
    </p:embeddedFont>
    <p:embeddedFont>
      <p:font typeface="Lato Bold" panose="020B0604020202020204" charset="0"/>
      <p:regular r:id="rId5"/>
    </p:embeddedFont>
    <p:embeddedFont>
      <p:font typeface="League Gothic" panose="020B0604020202020204" charset="0"/>
      <p:regular r:id="rId6"/>
    </p:embeddedFont>
    <p:embeddedFont>
      <p:font typeface="Libre Baskerville" panose="02000000000000000000" pitchFamily="2" charset="0"/>
      <p:regular r:id="rId7"/>
    </p:embeddedFont>
    <p:embeddedFont>
      <p:font typeface="Libre Baskerville Bold" panose="02000000000000000000" charset="0"/>
      <p:regular r:id="rId8"/>
    </p:embeddedFont>
    <p:embeddedFont>
      <p:font typeface="Source Serif Pro Bold" panose="020B0604020202020204" charset="0"/>
      <p:regular r:id="rId9"/>
    </p:embeddedFont>
    <p:embeddedFont>
      <p:font typeface="TT Hoves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5766" autoAdjust="0"/>
  </p:normalViewPr>
  <p:slideViewPr>
    <p:cSldViewPr>
      <p:cViewPr>
        <p:scale>
          <a:sx n="125" d="100"/>
          <a:sy n="125" d="100"/>
        </p:scale>
        <p:origin x="-6102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presProps" Target="presProps.xml"/><Relationship Id="rId5" Type="http://schemas.openxmlformats.org/officeDocument/2006/relationships/font" Target="fonts/font3.fntdata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pe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jpe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jpeg"/><Relationship Id="rId1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CF5">
                <a:alpha val="100000"/>
              </a:srgbClr>
            </a:gs>
            <a:gs pos="100000">
              <a:srgbClr val="D8D5CA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561967">
            <a:off x="-1373656" y="2534641"/>
            <a:ext cx="2233791" cy="4950229"/>
          </a:xfrm>
          <a:custGeom>
            <a:avLst/>
            <a:gdLst/>
            <a:ahLst/>
            <a:cxnLst/>
            <a:rect l="l" t="t" r="r" b="b"/>
            <a:pathLst>
              <a:path w="2233791" h="4950229">
                <a:moveTo>
                  <a:pt x="0" y="0"/>
                </a:moveTo>
                <a:lnTo>
                  <a:pt x="2233790" y="0"/>
                </a:lnTo>
                <a:lnTo>
                  <a:pt x="2233790" y="4950229"/>
                </a:lnTo>
                <a:lnTo>
                  <a:pt x="0" y="49502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6647286">
            <a:off x="16600744" y="972470"/>
            <a:ext cx="3374513" cy="2395904"/>
          </a:xfrm>
          <a:custGeom>
            <a:avLst/>
            <a:gdLst/>
            <a:ahLst/>
            <a:cxnLst/>
            <a:rect l="l" t="t" r="r" b="b"/>
            <a:pathLst>
              <a:path w="3374513" h="2395904">
                <a:moveTo>
                  <a:pt x="0" y="0"/>
                </a:moveTo>
                <a:lnTo>
                  <a:pt x="3374512" y="0"/>
                </a:lnTo>
                <a:lnTo>
                  <a:pt x="3374512" y="2395904"/>
                </a:lnTo>
                <a:lnTo>
                  <a:pt x="0" y="23959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9000"/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9258301"/>
            <a:ext cx="18288000" cy="1028699"/>
            <a:chOff x="0" y="0"/>
            <a:chExt cx="6288514" cy="3436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288513" cy="343666"/>
            </a:xfrm>
            <a:custGeom>
              <a:avLst/>
              <a:gdLst/>
              <a:ahLst/>
              <a:cxnLst/>
              <a:rect l="l" t="t" r="r" b="b"/>
              <a:pathLst>
                <a:path w="6288513" h="343666">
                  <a:moveTo>
                    <a:pt x="0" y="0"/>
                  </a:moveTo>
                  <a:lnTo>
                    <a:pt x="6288513" y="0"/>
                  </a:lnTo>
                  <a:lnTo>
                    <a:pt x="6288513" y="343666"/>
                  </a:lnTo>
                  <a:lnTo>
                    <a:pt x="0" y="343666"/>
                  </a:ln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6288514" cy="381766"/>
            </a:xfrm>
            <a:prstGeom prst="rect">
              <a:avLst/>
            </a:prstGeom>
          </p:spPr>
          <p:txBody>
            <a:bodyPr lIns="40222" tIns="40222" rIns="40222" bIns="40222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4403594" y="1115941"/>
            <a:ext cx="8848304" cy="8059557"/>
          </a:xfrm>
          <a:custGeom>
            <a:avLst/>
            <a:gdLst/>
            <a:ahLst/>
            <a:cxnLst/>
            <a:rect l="l" t="t" r="r" b="b"/>
            <a:pathLst>
              <a:path w="8848304" h="8059557">
                <a:moveTo>
                  <a:pt x="0" y="0"/>
                </a:moveTo>
                <a:lnTo>
                  <a:pt x="8848304" y="0"/>
                </a:lnTo>
                <a:lnTo>
                  <a:pt x="8848304" y="8059557"/>
                </a:lnTo>
                <a:lnTo>
                  <a:pt x="0" y="80595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8" name="Group 8"/>
          <p:cNvGrpSpPr/>
          <p:nvPr/>
        </p:nvGrpSpPr>
        <p:grpSpPr>
          <a:xfrm>
            <a:off x="0" y="-66675"/>
            <a:ext cx="18683546" cy="2463299"/>
            <a:chOff x="0" y="0"/>
            <a:chExt cx="24911395" cy="3284399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97468"/>
              <a:ext cx="24384000" cy="1487921"/>
              <a:chOff x="0" y="0"/>
              <a:chExt cx="6083359" cy="37120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083359" cy="371209"/>
              </a:xfrm>
              <a:custGeom>
                <a:avLst/>
                <a:gdLst/>
                <a:ahLst/>
                <a:cxnLst/>
                <a:rect l="l" t="t" r="r" b="b"/>
                <a:pathLst>
                  <a:path w="6083359" h="371209">
                    <a:moveTo>
                      <a:pt x="0" y="0"/>
                    </a:moveTo>
                    <a:lnTo>
                      <a:pt x="6083359" y="0"/>
                    </a:lnTo>
                    <a:lnTo>
                      <a:pt x="6083359" y="371209"/>
                    </a:lnTo>
                    <a:lnTo>
                      <a:pt x="0" y="371209"/>
                    </a:lnTo>
                    <a:close/>
                  </a:path>
                </a:pathLst>
              </a:custGeom>
              <a:solidFill>
                <a:srgbClr val="004E7A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6083359" cy="409309"/>
              </a:xfrm>
              <a:prstGeom prst="rect">
                <a:avLst/>
              </a:prstGeom>
            </p:spPr>
            <p:txBody>
              <a:bodyPr lIns="40222" tIns="40222" rIns="40222" bIns="40222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219200" y="250166"/>
              <a:ext cx="2645394" cy="3034232"/>
            </a:xfrm>
            <a:custGeom>
              <a:avLst/>
              <a:gdLst/>
              <a:ahLst/>
              <a:cxnLst/>
              <a:rect l="l" t="t" r="r" b="b"/>
              <a:pathLst>
                <a:path w="2645394" h="3034232">
                  <a:moveTo>
                    <a:pt x="0" y="0"/>
                  </a:moveTo>
                  <a:lnTo>
                    <a:pt x="2645394" y="0"/>
                  </a:lnTo>
                  <a:lnTo>
                    <a:pt x="2645394" y="3034233"/>
                  </a:lnTo>
                  <a:lnTo>
                    <a:pt x="0" y="30342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928" r="-5762" b="-11621"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21797587" y="533177"/>
              <a:ext cx="1214813" cy="727957"/>
            </a:xfrm>
            <a:custGeom>
              <a:avLst/>
              <a:gdLst/>
              <a:ahLst/>
              <a:cxnLst/>
              <a:rect l="l" t="t" r="r" b="b"/>
              <a:pathLst>
                <a:path w="1214813" h="727957">
                  <a:moveTo>
                    <a:pt x="0" y="0"/>
                  </a:moveTo>
                  <a:lnTo>
                    <a:pt x="1214813" y="0"/>
                  </a:lnTo>
                  <a:lnTo>
                    <a:pt x="1214813" y="727957"/>
                  </a:lnTo>
                  <a:lnTo>
                    <a:pt x="0" y="727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8094" r="-18094"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19898592" y="0"/>
              <a:ext cx="5012803" cy="2010210"/>
            </a:xfrm>
            <a:custGeom>
              <a:avLst/>
              <a:gdLst/>
              <a:ahLst/>
              <a:cxnLst/>
              <a:rect l="l" t="t" r="r" b="b"/>
              <a:pathLst>
                <a:path w="5012803" h="2010210">
                  <a:moveTo>
                    <a:pt x="0" y="0"/>
                  </a:moveTo>
                  <a:lnTo>
                    <a:pt x="5012803" y="0"/>
                  </a:lnTo>
                  <a:lnTo>
                    <a:pt x="5012803" y="2010210"/>
                  </a:lnTo>
                  <a:lnTo>
                    <a:pt x="0" y="20102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4933469" y="269216"/>
              <a:ext cx="14320434" cy="9918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780"/>
                </a:lnSpc>
                <a:spcBef>
                  <a:spcPct val="0"/>
                </a:spcBef>
              </a:pPr>
              <a:r>
                <a:rPr lang="en-US" sz="1271" b="1">
                  <a:solidFill>
                    <a:srgbClr val="FFF5E9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Pune V</a:t>
              </a:r>
              <a:r>
                <a:rPr lang="en-US" sz="1271" b="1" u="none" strike="noStrike">
                  <a:solidFill>
                    <a:srgbClr val="FFF5E9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idyarthi Griha’s</a:t>
              </a:r>
            </a:p>
            <a:p>
              <a:pPr marL="0" lvl="0" indent="0" algn="ctr">
                <a:lnSpc>
                  <a:spcPts val="2785"/>
                </a:lnSpc>
                <a:spcBef>
                  <a:spcPct val="0"/>
                </a:spcBef>
              </a:pPr>
              <a:r>
                <a:rPr lang="en-US" sz="1989" u="none" strike="noStrike">
                  <a:solidFill>
                    <a:srgbClr val="FFF5E9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 </a:t>
              </a:r>
              <a:r>
                <a:rPr lang="en-US" sz="1989" b="1" u="none" strike="noStrike">
                  <a:solidFill>
                    <a:srgbClr val="FFF5E9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COLLEGE OF ENGINEERING, TECHNOLOGY AND MANAGEMENT, PUNE</a:t>
              </a:r>
            </a:p>
            <a:p>
              <a:pPr marL="0" lvl="0" indent="0" algn="ctr">
                <a:lnSpc>
                  <a:spcPts val="1478"/>
                </a:lnSpc>
                <a:spcBef>
                  <a:spcPct val="0"/>
                </a:spcBef>
              </a:pPr>
              <a:r>
                <a:rPr lang="en-US" sz="1056" u="none" strike="noStrike">
                  <a:solidFill>
                    <a:srgbClr val="FFF5E9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(An Autonomous Institute Affiliated to Savitribai Phule Pune University) </a:t>
              </a:r>
            </a:p>
          </p:txBody>
        </p:sp>
      </p:grpSp>
      <p:sp>
        <p:nvSpPr>
          <p:cNvPr id="16" name="Freeform 16"/>
          <p:cNvSpPr/>
          <p:nvPr/>
        </p:nvSpPr>
        <p:spPr>
          <a:xfrm rot="6647286">
            <a:off x="16753144" y="1124870"/>
            <a:ext cx="3374513" cy="2395904"/>
          </a:xfrm>
          <a:custGeom>
            <a:avLst/>
            <a:gdLst/>
            <a:ahLst/>
            <a:cxnLst/>
            <a:rect l="l" t="t" r="r" b="b"/>
            <a:pathLst>
              <a:path w="3374513" h="2395904">
                <a:moveTo>
                  <a:pt x="0" y="0"/>
                </a:moveTo>
                <a:lnTo>
                  <a:pt x="3374512" y="0"/>
                </a:lnTo>
                <a:lnTo>
                  <a:pt x="3374512" y="2395904"/>
                </a:lnTo>
                <a:lnTo>
                  <a:pt x="0" y="23959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9000"/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7069430" y="9404098"/>
            <a:ext cx="3516633" cy="1140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spcBef>
                <a:spcPct val="0"/>
              </a:spcBef>
            </a:pPr>
            <a:r>
              <a:rPr lang="en-US" sz="2800" spc="28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 ASSOCIATION WITH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03980" y="9346948"/>
            <a:ext cx="17475586" cy="837645"/>
            <a:chOff x="0" y="0"/>
            <a:chExt cx="23300781" cy="1116860"/>
          </a:xfrm>
        </p:grpSpPr>
        <p:sp>
          <p:nvSpPr>
            <p:cNvPr id="19" name="Freeform 19"/>
            <p:cNvSpPr/>
            <p:nvPr/>
          </p:nvSpPr>
          <p:spPr>
            <a:xfrm>
              <a:off x="13898075" y="54202"/>
              <a:ext cx="1532403" cy="968134"/>
            </a:xfrm>
            <a:custGeom>
              <a:avLst/>
              <a:gdLst/>
              <a:ahLst/>
              <a:cxnLst/>
              <a:rect l="l" t="t" r="r" b="b"/>
              <a:pathLst>
                <a:path w="1532403" h="968134">
                  <a:moveTo>
                    <a:pt x="0" y="0"/>
                  </a:moveTo>
                  <a:lnTo>
                    <a:pt x="1532404" y="0"/>
                  </a:lnTo>
                  <a:lnTo>
                    <a:pt x="1532404" y="968134"/>
                  </a:lnTo>
                  <a:lnTo>
                    <a:pt x="0" y="968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5382" t="-3152" r="-5382" b="-3823"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17075812" y="0"/>
              <a:ext cx="1728802" cy="1076537"/>
            </a:xfrm>
            <a:custGeom>
              <a:avLst/>
              <a:gdLst/>
              <a:ahLst/>
              <a:cxnLst/>
              <a:rect l="l" t="t" r="r" b="b"/>
              <a:pathLst>
                <a:path w="1728802" h="1076537">
                  <a:moveTo>
                    <a:pt x="0" y="0"/>
                  </a:moveTo>
                  <a:lnTo>
                    <a:pt x="1728802" y="0"/>
                  </a:lnTo>
                  <a:lnTo>
                    <a:pt x="1728802" y="1076537"/>
                  </a:lnTo>
                  <a:lnTo>
                    <a:pt x="0" y="1076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5050" t="-762" r="-5050"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>
              <a:off x="20159333" y="169334"/>
              <a:ext cx="3141448" cy="686901"/>
            </a:xfrm>
            <a:custGeom>
              <a:avLst/>
              <a:gdLst/>
              <a:ahLst/>
              <a:cxnLst/>
              <a:rect l="l" t="t" r="r" b="b"/>
              <a:pathLst>
                <a:path w="3141448" h="686901">
                  <a:moveTo>
                    <a:pt x="0" y="0"/>
                  </a:moveTo>
                  <a:lnTo>
                    <a:pt x="3141448" y="0"/>
                  </a:lnTo>
                  <a:lnTo>
                    <a:pt x="3141448" y="686901"/>
                  </a:lnTo>
                  <a:lnTo>
                    <a:pt x="0" y="686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13226" r="-4339" b="-13226"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3616257" y="36126"/>
              <a:ext cx="1700664" cy="1004284"/>
              <a:chOff x="0" y="0"/>
              <a:chExt cx="1204218" cy="71112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204218" cy="711120"/>
              </a:xfrm>
              <a:custGeom>
                <a:avLst/>
                <a:gdLst/>
                <a:ahLst/>
                <a:cxnLst/>
                <a:rect l="l" t="t" r="r" b="b"/>
                <a:pathLst>
                  <a:path w="1204218" h="711120">
                    <a:moveTo>
                      <a:pt x="0" y="0"/>
                    </a:moveTo>
                    <a:lnTo>
                      <a:pt x="1204218" y="0"/>
                    </a:lnTo>
                    <a:lnTo>
                      <a:pt x="1204218" y="711120"/>
                    </a:lnTo>
                    <a:lnTo>
                      <a:pt x="0" y="711120"/>
                    </a:lnTo>
                    <a:close/>
                  </a:path>
                </a:pathLst>
              </a:custGeom>
              <a:blipFill>
                <a:blip r:embed="rId12"/>
                <a:stretch>
                  <a:fillRect t="-34670" b="-34670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id="24" name="Group 24"/>
            <p:cNvGrpSpPr/>
            <p:nvPr/>
          </p:nvGrpSpPr>
          <p:grpSpPr>
            <a:xfrm>
              <a:off x="0" y="82919"/>
              <a:ext cx="2617179" cy="859731"/>
              <a:chOff x="0" y="0"/>
              <a:chExt cx="6601336" cy="2168508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-3810" y="0"/>
                <a:ext cx="6614036" cy="2169778"/>
              </a:xfrm>
              <a:custGeom>
                <a:avLst/>
                <a:gdLst/>
                <a:ahLst/>
                <a:cxnLst/>
                <a:rect l="l" t="t" r="r" b="b"/>
                <a:pathLst>
                  <a:path w="6614036" h="2169778">
                    <a:moveTo>
                      <a:pt x="6598040" y="2150854"/>
                    </a:moveTo>
                    <a:lnTo>
                      <a:pt x="6316175" y="2150854"/>
                    </a:lnTo>
                    <a:lnTo>
                      <a:pt x="6207218" y="2127315"/>
                    </a:lnTo>
                    <a:lnTo>
                      <a:pt x="411212" y="2144969"/>
                    </a:lnTo>
                    <a:lnTo>
                      <a:pt x="302256" y="2168508"/>
                    </a:lnTo>
                    <a:lnTo>
                      <a:pt x="10916" y="2169778"/>
                    </a:lnTo>
                    <a:lnTo>
                      <a:pt x="10916" y="1429979"/>
                    </a:lnTo>
                    <a:cubicBezTo>
                      <a:pt x="10916" y="1429979"/>
                      <a:pt x="0" y="1114168"/>
                      <a:pt x="10916" y="918992"/>
                    </a:cubicBezTo>
                    <a:cubicBezTo>
                      <a:pt x="25127" y="723817"/>
                      <a:pt x="10916" y="616912"/>
                      <a:pt x="10916" y="616912"/>
                    </a:cubicBezTo>
                    <a:lnTo>
                      <a:pt x="8547" y="411928"/>
                    </a:lnTo>
                    <a:lnTo>
                      <a:pt x="8547" y="0"/>
                    </a:lnTo>
                    <a:lnTo>
                      <a:pt x="820983" y="0"/>
                    </a:lnTo>
                    <a:lnTo>
                      <a:pt x="984417" y="32366"/>
                    </a:lnTo>
                    <a:cubicBezTo>
                      <a:pt x="984417" y="32366"/>
                      <a:pt x="2760880" y="14712"/>
                      <a:pt x="3177757" y="29423"/>
                    </a:cubicBezTo>
                    <a:cubicBezTo>
                      <a:pt x="3594633" y="44135"/>
                      <a:pt x="5745338" y="32366"/>
                      <a:pt x="5745338" y="32366"/>
                    </a:cubicBezTo>
                    <a:lnTo>
                      <a:pt x="5842451" y="0"/>
                    </a:lnTo>
                    <a:lnTo>
                      <a:pt x="6600409" y="0"/>
                    </a:lnTo>
                    <a:lnTo>
                      <a:pt x="6600409" y="561988"/>
                    </a:lnTo>
                    <a:cubicBezTo>
                      <a:pt x="6600409" y="561988"/>
                      <a:pt x="6610226" y="553161"/>
                      <a:pt x="6600409" y="782664"/>
                    </a:cubicBezTo>
                    <a:cubicBezTo>
                      <a:pt x="6586197" y="1012166"/>
                      <a:pt x="6600409" y="1052378"/>
                      <a:pt x="6600409" y="1052378"/>
                    </a:cubicBezTo>
                    <a:cubicBezTo>
                      <a:pt x="6600409" y="1052378"/>
                      <a:pt x="6614036" y="1238727"/>
                      <a:pt x="6600409" y="1361325"/>
                    </a:cubicBezTo>
                    <a:cubicBezTo>
                      <a:pt x="6576723" y="1485884"/>
                      <a:pt x="6598040" y="2150854"/>
                      <a:pt x="6598040" y="2150854"/>
                    </a:cubicBezTo>
                    <a:close/>
                  </a:path>
                </a:pathLst>
              </a:custGeom>
              <a:blipFill>
                <a:blip r:embed="rId13"/>
                <a:stretch>
                  <a:fillRect l="-34" t="-9450" r="-27" b="-9450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6316001" y="0"/>
              <a:ext cx="1445431" cy="1116860"/>
              <a:chOff x="0" y="0"/>
              <a:chExt cx="5390503" cy="4165151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-3810" y="0"/>
                <a:ext cx="5403203" cy="4166421"/>
              </a:xfrm>
              <a:custGeom>
                <a:avLst/>
                <a:gdLst/>
                <a:ahLst/>
                <a:cxnLst/>
                <a:rect l="l" t="t" r="r" b="b"/>
                <a:pathLst>
                  <a:path w="5403203" h="4166421">
                    <a:moveTo>
                      <a:pt x="5388510" y="4131242"/>
                    </a:moveTo>
                    <a:lnTo>
                      <a:pt x="5158345" y="4131242"/>
                    </a:lnTo>
                    <a:lnTo>
                      <a:pt x="5069374" y="4086030"/>
                    </a:lnTo>
                    <a:lnTo>
                      <a:pt x="336485" y="4119939"/>
                    </a:lnTo>
                    <a:lnTo>
                      <a:pt x="247514" y="4165151"/>
                    </a:lnTo>
                    <a:lnTo>
                      <a:pt x="9612" y="4166421"/>
                    </a:lnTo>
                    <a:lnTo>
                      <a:pt x="9612" y="2746626"/>
                    </a:lnTo>
                    <a:cubicBezTo>
                      <a:pt x="9612" y="2746626"/>
                      <a:pt x="0" y="2140032"/>
                      <a:pt x="9612" y="1765150"/>
                    </a:cubicBezTo>
                    <a:cubicBezTo>
                      <a:pt x="21217" y="1390268"/>
                      <a:pt x="9612" y="1184930"/>
                      <a:pt x="9612" y="1184930"/>
                    </a:cubicBezTo>
                    <a:lnTo>
                      <a:pt x="7678" y="791209"/>
                    </a:lnTo>
                    <a:lnTo>
                      <a:pt x="7678" y="0"/>
                    </a:lnTo>
                    <a:lnTo>
                      <a:pt x="671095" y="0"/>
                    </a:lnTo>
                    <a:lnTo>
                      <a:pt x="804552" y="62166"/>
                    </a:lnTo>
                    <a:cubicBezTo>
                      <a:pt x="804552" y="62166"/>
                      <a:pt x="2255172" y="28257"/>
                      <a:pt x="2595584" y="56515"/>
                    </a:cubicBezTo>
                    <a:cubicBezTo>
                      <a:pt x="2935996" y="84772"/>
                      <a:pt x="4692213" y="62166"/>
                      <a:pt x="4692213" y="62166"/>
                    </a:cubicBezTo>
                    <a:lnTo>
                      <a:pt x="4771514" y="0"/>
                    </a:lnTo>
                    <a:lnTo>
                      <a:pt x="5390444" y="0"/>
                    </a:lnTo>
                    <a:lnTo>
                      <a:pt x="5390444" y="1079435"/>
                    </a:lnTo>
                    <a:cubicBezTo>
                      <a:pt x="5390444" y="1079435"/>
                      <a:pt x="5399393" y="1062481"/>
                      <a:pt x="5390444" y="1503297"/>
                    </a:cubicBezTo>
                    <a:cubicBezTo>
                      <a:pt x="5378839" y="1944114"/>
                      <a:pt x="5390444" y="2021351"/>
                      <a:pt x="5390444" y="2021351"/>
                    </a:cubicBezTo>
                    <a:cubicBezTo>
                      <a:pt x="5390444" y="2021351"/>
                      <a:pt x="5403203" y="2379279"/>
                      <a:pt x="5390444" y="2614758"/>
                    </a:cubicBezTo>
                    <a:cubicBezTo>
                      <a:pt x="5371103" y="2854004"/>
                      <a:pt x="5388510" y="4131242"/>
                      <a:pt x="5388510" y="4131242"/>
                    </a:cubicBezTo>
                    <a:close/>
                  </a:path>
                </a:pathLst>
              </a:custGeom>
              <a:blipFill>
                <a:blip r:embed="rId14"/>
                <a:stretch>
                  <a:fillRect l="-28" t="-14729" r="-28" b="-14729"/>
                </a:stretch>
              </a:blipFill>
            </p:spPr>
          </p:sp>
        </p:grpSp>
      </p:grpSp>
      <p:sp>
        <p:nvSpPr>
          <p:cNvPr id="28" name="Freeform 28"/>
          <p:cNvSpPr/>
          <p:nvPr/>
        </p:nvSpPr>
        <p:spPr>
          <a:xfrm>
            <a:off x="13917657" y="7670115"/>
            <a:ext cx="2651550" cy="850781"/>
          </a:xfrm>
          <a:custGeom>
            <a:avLst/>
            <a:gdLst/>
            <a:ahLst/>
            <a:cxnLst/>
            <a:rect l="l" t="t" r="r" b="b"/>
            <a:pathLst>
              <a:path w="2651550" h="850781">
                <a:moveTo>
                  <a:pt x="0" y="0"/>
                </a:moveTo>
                <a:lnTo>
                  <a:pt x="2651549" y="0"/>
                </a:lnTo>
                <a:lnTo>
                  <a:pt x="2651549" y="850781"/>
                </a:lnTo>
                <a:lnTo>
                  <a:pt x="0" y="85078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4953980" y="7695322"/>
            <a:ext cx="1119537" cy="975148"/>
          </a:xfrm>
          <a:custGeom>
            <a:avLst/>
            <a:gdLst/>
            <a:ahLst/>
            <a:cxnLst/>
            <a:rect l="l" t="t" r="r" b="b"/>
            <a:pathLst>
              <a:path w="1119537" h="975148">
                <a:moveTo>
                  <a:pt x="0" y="0"/>
                </a:moveTo>
                <a:lnTo>
                  <a:pt x="1119537" y="0"/>
                </a:lnTo>
                <a:lnTo>
                  <a:pt x="1119537" y="975148"/>
                </a:lnTo>
                <a:lnTo>
                  <a:pt x="0" y="97514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7776428" y="7926059"/>
            <a:ext cx="2497916" cy="1095577"/>
          </a:xfrm>
          <a:custGeom>
            <a:avLst/>
            <a:gdLst/>
            <a:ahLst/>
            <a:cxnLst/>
            <a:rect l="l" t="t" r="r" b="b"/>
            <a:pathLst>
              <a:path w="2497916" h="1095577">
                <a:moveTo>
                  <a:pt x="0" y="0"/>
                </a:moveTo>
                <a:lnTo>
                  <a:pt x="2497916" y="0"/>
                </a:lnTo>
                <a:lnTo>
                  <a:pt x="2497916" y="1095577"/>
                </a:lnTo>
                <a:lnTo>
                  <a:pt x="0" y="109557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1518424" y="7556212"/>
            <a:ext cx="1155151" cy="953000"/>
          </a:xfrm>
          <a:custGeom>
            <a:avLst/>
            <a:gdLst/>
            <a:ahLst/>
            <a:cxnLst/>
            <a:rect l="l" t="t" r="r" b="b"/>
            <a:pathLst>
              <a:path w="1155151" h="953000">
                <a:moveTo>
                  <a:pt x="0" y="0"/>
                </a:moveTo>
                <a:lnTo>
                  <a:pt x="1155152" y="0"/>
                </a:lnTo>
                <a:lnTo>
                  <a:pt x="1155152" y="953000"/>
                </a:lnTo>
                <a:lnTo>
                  <a:pt x="0" y="9530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671770" y="7695322"/>
            <a:ext cx="1089628" cy="759872"/>
          </a:xfrm>
          <a:custGeom>
            <a:avLst/>
            <a:gdLst/>
            <a:ahLst/>
            <a:cxnLst/>
            <a:rect l="l" t="t" r="r" b="b"/>
            <a:pathLst>
              <a:path w="1089628" h="759872">
                <a:moveTo>
                  <a:pt x="0" y="0"/>
                </a:moveTo>
                <a:lnTo>
                  <a:pt x="1089628" y="0"/>
                </a:lnTo>
                <a:lnTo>
                  <a:pt x="1089628" y="759873"/>
                </a:lnTo>
                <a:lnTo>
                  <a:pt x="0" y="75987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618567" y="4540408"/>
            <a:ext cx="17050866" cy="3015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5"/>
              </a:lnSpc>
            </a:pPr>
            <a:r>
              <a:rPr lang="en-US" sz="3996" b="1" spc="25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&lt;&lt;NAME&gt;&gt;</a:t>
            </a:r>
          </a:p>
          <a:p>
            <a:pPr algn="ctr">
              <a:lnSpc>
                <a:spcPts val="3226"/>
              </a:lnSpc>
            </a:pPr>
            <a:endParaRPr lang="en-US" sz="3996" b="1" spc="251" dirty="0">
              <a:solidFill>
                <a:srgbClr val="000000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ctr">
              <a:lnSpc>
                <a:spcPts val="3226"/>
              </a:lnSpc>
            </a:pPr>
            <a:r>
              <a:rPr lang="en-US" sz="2933" spc="184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for actively participating in the 3 Days International Symposium on “Niche Areas of Sustainable Development” ISNASD’25 from 3rd to 5th November 2025, </a:t>
            </a:r>
            <a:r>
              <a:rPr lang="en-US" sz="2933" spc="184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organised</a:t>
            </a:r>
            <a:r>
              <a:rPr lang="en-US" sz="2933" spc="184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by</a:t>
            </a:r>
          </a:p>
          <a:p>
            <a:pPr algn="ctr">
              <a:lnSpc>
                <a:spcPts val="3226"/>
              </a:lnSpc>
            </a:pPr>
            <a:r>
              <a:rPr lang="en-US" sz="2933" spc="184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PVG’s COET&amp;M, Pune, In Association with IEEE Pune Section, Energy Swaraj Foundation, </a:t>
            </a:r>
          </a:p>
          <a:p>
            <a:pPr algn="ctr">
              <a:lnSpc>
                <a:spcPts val="3226"/>
              </a:lnSpc>
            </a:pPr>
            <a:r>
              <a:rPr lang="en-US" sz="2933" spc="184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Center of Sustainable Development (GIPE) and Kirloskar Vasundhara</a:t>
            </a:r>
          </a:p>
          <a:p>
            <a:pPr algn="ctr">
              <a:lnSpc>
                <a:spcPts val="3226"/>
              </a:lnSpc>
            </a:pPr>
            <a:endParaRPr lang="en-US" sz="2933" spc="184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4189008" y="1288800"/>
            <a:ext cx="9277476" cy="919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1"/>
              </a:lnSpc>
            </a:pPr>
            <a:r>
              <a:rPr lang="en-US" sz="3674" spc="367">
                <a:solidFill>
                  <a:srgbClr val="000000"/>
                </a:solidFill>
                <a:latin typeface="League Gothic"/>
                <a:ea typeface="League Gothic"/>
                <a:cs typeface="League Gothic"/>
                <a:sym typeface="League Gothic"/>
              </a:rPr>
              <a:t> INTERNATIONAL SYMPOSIUM</a:t>
            </a:r>
          </a:p>
          <a:p>
            <a:pPr algn="ctr">
              <a:lnSpc>
                <a:spcPts val="3322"/>
              </a:lnSpc>
            </a:pPr>
            <a:r>
              <a:rPr lang="en-US" sz="3289" spc="328">
                <a:solidFill>
                  <a:srgbClr val="000000"/>
                </a:solidFill>
                <a:latin typeface="League Gothic"/>
                <a:ea typeface="League Gothic"/>
                <a:cs typeface="League Gothic"/>
                <a:sym typeface="League Gothic"/>
              </a:rPr>
              <a:t> on NICHE AREAS OF SUSTAINABLE DEVELOPMENT(ISNASD’25)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953360" y="8211471"/>
            <a:ext cx="209278" cy="21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0"/>
              </a:lnSpc>
            </a:pPr>
            <a:endParaRPr/>
          </a:p>
        </p:txBody>
      </p:sp>
      <p:sp>
        <p:nvSpPr>
          <p:cNvPr id="38" name="TextBox 38"/>
          <p:cNvSpPr txBox="1"/>
          <p:nvPr/>
        </p:nvSpPr>
        <p:spPr>
          <a:xfrm>
            <a:off x="16029758" y="1135337"/>
            <a:ext cx="1508068" cy="168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97"/>
              </a:lnSpc>
            </a:pPr>
            <a:r>
              <a:rPr lang="en-US" sz="1284" spc="128" dirty="0">
                <a:solidFill>
                  <a:srgbClr val="7A2F00"/>
                </a:solidFill>
                <a:latin typeface="League Gothic"/>
                <a:ea typeface="League Gothic"/>
                <a:cs typeface="League Gothic"/>
                <a:sym typeface="League Gothic"/>
              </a:rPr>
              <a:t>NAAC THIRD CYCLE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193714" y="3960316"/>
            <a:ext cx="5753100" cy="4023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48"/>
              </a:lnSpc>
              <a:spcBef>
                <a:spcPct val="0"/>
              </a:spcBef>
            </a:pPr>
            <a:r>
              <a:rPr lang="en-US" sz="2959" b="1" spc="-88" dirty="0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This certificate is presented to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646475" y="3146339"/>
            <a:ext cx="8995047" cy="6394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4621" b="1" spc="-138" dirty="0">
                <a:solidFill>
                  <a:srgbClr val="CC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CERTIFICATE OF PARTICIPATION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28001" y="8482796"/>
            <a:ext cx="2566727" cy="616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73"/>
              </a:lnSpc>
            </a:pPr>
            <a:r>
              <a:rPr lang="en-US" sz="1767" dirty="0" err="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Convernor</a:t>
            </a:r>
            <a:endParaRPr lang="en-US" sz="1767" dirty="0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  <a:p>
            <a:pPr algn="ctr">
              <a:lnSpc>
                <a:spcPts val="2473"/>
              </a:lnSpc>
            </a:pPr>
            <a:r>
              <a:rPr lang="en-US" sz="1767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Prof. Archana </a:t>
            </a:r>
            <a:r>
              <a:rPr lang="en-US" sz="1767" dirty="0" err="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Mirashi</a:t>
            </a:r>
            <a:endParaRPr lang="en-US" sz="1767" dirty="0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3927553" y="8482796"/>
            <a:ext cx="2820953" cy="617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73"/>
              </a:lnSpc>
            </a:pPr>
            <a:r>
              <a:rPr lang="en-US" sz="1767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Chairperson</a:t>
            </a:r>
          </a:p>
          <a:p>
            <a:pPr algn="ctr">
              <a:lnSpc>
                <a:spcPts val="2473"/>
              </a:lnSpc>
            </a:pPr>
            <a:r>
              <a:rPr lang="en-US" sz="1767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Prof. </a:t>
            </a:r>
            <a:r>
              <a:rPr lang="en-US" sz="1767" dirty="0" err="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Angali</a:t>
            </a:r>
            <a:r>
              <a:rPr lang="en-US" sz="1767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Waghmare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978550" y="8482796"/>
            <a:ext cx="2081634" cy="616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73"/>
              </a:lnSpc>
            </a:pPr>
            <a:r>
              <a:rPr lang="en-US" sz="1767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IEEE Pune Section</a:t>
            </a:r>
          </a:p>
          <a:p>
            <a:pPr algn="ctr">
              <a:lnSpc>
                <a:spcPts val="2473"/>
              </a:lnSpc>
            </a:pPr>
            <a:r>
              <a:rPr lang="en-US" sz="1767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Dr. M..P. .Bhawalkar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039024" y="8482796"/>
            <a:ext cx="2275627" cy="616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73"/>
              </a:lnSpc>
            </a:pPr>
            <a:r>
              <a:rPr lang="en-US" sz="1767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Principal</a:t>
            </a:r>
          </a:p>
          <a:p>
            <a:pPr algn="ctr">
              <a:lnSpc>
                <a:spcPts val="2473"/>
              </a:lnSpc>
            </a:pPr>
            <a:r>
              <a:rPr lang="en-US" sz="1767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Dr. M. R. </a:t>
            </a:r>
            <a:r>
              <a:rPr lang="en-US" sz="1767" dirty="0" err="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Tarambale</a:t>
            </a:r>
            <a:endParaRPr lang="en-US" sz="1767" dirty="0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3934001" y="8482796"/>
            <a:ext cx="2394841" cy="616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73"/>
              </a:lnSpc>
            </a:pPr>
            <a:r>
              <a:rPr lang="en-US" sz="1767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Director</a:t>
            </a:r>
          </a:p>
          <a:p>
            <a:pPr algn="ctr">
              <a:lnSpc>
                <a:spcPts val="2473"/>
              </a:lnSpc>
            </a:pPr>
            <a:r>
              <a:rPr lang="en-US" sz="1767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Prof. R.G. </a:t>
            </a:r>
            <a:r>
              <a:rPr lang="en-US" sz="1767" dirty="0" err="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kaduskar</a:t>
            </a:r>
            <a:endParaRPr lang="en-US" sz="1767" dirty="0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146</Words>
  <Application>Microsoft Office PowerPoint</Application>
  <PresentationFormat>Custom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Libre Baskerville</vt:lpstr>
      <vt:lpstr>Lato Bold</vt:lpstr>
      <vt:lpstr>Calibri</vt:lpstr>
      <vt:lpstr>Lato</vt:lpstr>
      <vt:lpstr>Source Serif Pro Bold</vt:lpstr>
      <vt:lpstr>League Gothic</vt:lpstr>
      <vt:lpstr>DM Serif Display</vt:lpstr>
      <vt:lpstr>Libre Baskerville Bold</vt:lpstr>
      <vt:lpstr>Arial</vt:lpstr>
      <vt:lpstr>TT Hoves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Copy of Your paragraph text</dc:title>
  <cp:lastModifiedBy>jagdish prajapati</cp:lastModifiedBy>
  <cp:revision>7</cp:revision>
  <dcterms:created xsi:type="dcterms:W3CDTF">2006-08-16T00:00:00Z</dcterms:created>
  <dcterms:modified xsi:type="dcterms:W3CDTF">2025-11-05T20:48:15Z</dcterms:modified>
  <dc:identifier>DAG3nvk80xI</dc:identifier>
</cp:coreProperties>
</file>